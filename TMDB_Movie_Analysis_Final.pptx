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1A"/>
    <a:srgbClr val="F5F5F0"/>
    <a:srgbClr val="1922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2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38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43891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MOVIE SUCCESS?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2743200" cy="45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TMDB-Based Analysis of Revenue &amp; Blockbuster Outcomes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2796477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API | </a:t>
            </a: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3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Linear Regression · Logistic Regression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</a:t>
            </a: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Choi, Ethan Jeon, </a:t>
            </a:r>
            <a:r>
              <a:rPr lang="en-US" sz="1400" dirty="0" err="1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Taehyeok</a:t>
            </a:r>
            <a:r>
              <a:rPr lang="en-US" sz="14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Yun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965960" cy="15544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9144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1,580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Movies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runtime ≥ 60 min filter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65960" cy="15544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1051560"/>
            <a:ext cx="1965960" cy="9144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1887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450592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language groups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051560"/>
            <a:ext cx="1965960" cy="15544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1051560"/>
            <a:ext cx="1965960" cy="91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11887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26864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genre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1965960" cy="15544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1051560"/>
            <a:ext cx="1965960" cy="914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11887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803136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3136" y="2194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unique movie IDs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Data Quality Notes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83080" y="3227832"/>
            <a:ext cx="502920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83080" y="3227832"/>
            <a:ext cx="3978097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 missing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35387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83080" y="3611880"/>
            <a:ext cx="502920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783080" y="3611880"/>
            <a:ext cx="3942893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03720" y="3538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78.4% missing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922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783080" y="3995928"/>
            <a:ext cx="502920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83080" y="3995928"/>
            <a:ext cx="920344" cy="16459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03720" y="39227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 missing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" y="4306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783080" y="4379976"/>
            <a:ext cx="5029200" cy="16459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783080" y="4379976"/>
            <a:ext cx="432511" cy="16459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03720" y="4306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8.6% missing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in budget/revenue treated as missing data. Movies with runtime &lt; 60 min removed. 352 complete rows used for modeling.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DESCRIPTIVE STATISTICS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Popularity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16.3 – 415.5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2900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Vote Avg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 – 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280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 min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60, Max: 400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65176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$288M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$101M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65176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2900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$62M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42900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Budget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$33M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606040" cy="137160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265176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28346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352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0936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Sample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rows after dropna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budget exhibit strong right skew — log transformations applied in modeling. 352 of 1,580 rows have complete data for regression.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REVENUE BY GENRE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1143000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37360" y="1143000"/>
            <a:ext cx="475488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$609M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80960" y="1097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49640" y="1097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179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1563624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1563624"/>
            <a:ext cx="3653996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5179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$468M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0" y="15179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49640" y="15179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19385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1984248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37360" y="1984248"/>
            <a:ext cx="3677420" cy="23774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$471M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19385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n=62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49640" y="19385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359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37360" y="2404872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37360" y="2404872"/>
            <a:ext cx="3521266" cy="237744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23591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$451M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80960" y="235915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49640" y="23591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27797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737360" y="2825496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737360" y="2825496"/>
            <a:ext cx="3310458" cy="237744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7797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$424M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27797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49640" y="27797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37360" y="3246120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37360" y="3246120"/>
            <a:ext cx="2240806" cy="237744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3200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496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3621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737360" y="3666744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37360" y="3666744"/>
            <a:ext cx="1616191" cy="237744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0" y="3621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$207M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80960" y="362102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549640" y="362102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14%★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041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Thriller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737360" y="4087368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37360" y="4087368"/>
            <a:ext cx="1538114" cy="237744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83680" y="40416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$197M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80960" y="40416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549640" y="40416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12%★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4320" y="44622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737360" y="4507992"/>
            <a:ext cx="4754880" cy="237744"/>
          </a:xfrm>
          <a:prstGeom prst="rect">
            <a:avLst/>
          </a:prstGeom>
          <a:solidFill>
            <a:srgbClr val="D8D8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737360" y="4507992"/>
            <a:ext cx="1116499" cy="237744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83680" y="4462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$143M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680960" y="44622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n=375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549640" y="44622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7%★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737360" y="4773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(millions USD)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039576" y="4773168"/>
            <a:ext cx="1104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Blockbuster rate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814283"/>
            <a:ext cx="7378064" cy="249819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65760" y="4848430"/>
            <a:ext cx="7582376" cy="2061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Adventure leads at $609M avg with a 51% blockbuster rate; Drama has the most films (375) but only a 7% blockbuster 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RUNTIME &amp; LANGUAGE GROUPS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GROUPS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841248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64008" cy="841248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(&lt;90 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Rev: $112M  |  Avg Pop: 20.7  |  n=446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3931920" cy="841248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64008" cy="84124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(90–120)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Rev: $182M  |  Avg Pop: 23.8  |  n=842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3931920" cy="841248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64008" cy="8412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(&gt;120 min)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831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Rev: $466M  |  Avg Pop: 23.4  |  n=292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GROUPS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545336"/>
            <a:ext cx="2926080" cy="201168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545336"/>
            <a:ext cx="2353434" cy="2011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083000" y="1702728"/>
            <a:ext cx="1371600" cy="274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$338M  n=965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1545336"/>
            <a:ext cx="1371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$338M</a:t>
            </a:r>
            <a:endParaRPr lang="en-US" sz="1000" dirty="0">
              <a:solidFill>
                <a:srgbClr val="192244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20086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090924"/>
            <a:ext cx="2926080" cy="201168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2090924"/>
            <a:ext cx="132686" cy="2011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83000" y="2248316"/>
            <a:ext cx="1371600" cy="274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$19M  n=90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0" y="20817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26098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2692140"/>
            <a:ext cx="2926080" cy="201168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72200" y="2692140"/>
            <a:ext cx="1865080" cy="2011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83000" y="2849532"/>
            <a:ext cx="1371600" cy="274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$275M  n=17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2674252"/>
            <a:ext cx="1371600" cy="209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$275M</a:t>
            </a:r>
            <a:endParaRPr lang="en-US" sz="1000" dirty="0">
              <a:solidFill>
                <a:srgbClr val="192244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46320" y="326821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72200" y="3350508"/>
            <a:ext cx="2926080" cy="201168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3350508"/>
            <a:ext cx="48884" cy="2011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83000" y="3507900"/>
            <a:ext cx="1288559" cy="274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  n=103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3047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39265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72200" y="4008876"/>
            <a:ext cx="2926080" cy="201168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72200" y="4008876"/>
            <a:ext cx="775167" cy="2011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083000" y="4166268"/>
            <a:ext cx="1015966" cy="274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$111M  n=7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39997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$111M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9768" y="4459847"/>
            <a:ext cx="6594119" cy="519061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29768" y="4553304"/>
            <a:ext cx="651759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Long films earn 4x more than short films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Korean films punch above their weight at $111M avg despite only 8 films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CORRELATION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16739" y="993296"/>
            <a:ext cx="62178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883664" y="9932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95728" y="9932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907792" y="9932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19856" y="9932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04489" y="993296"/>
            <a:ext cx="5669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443984" y="993296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" y="13643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272876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83664" y="1272876"/>
            <a:ext cx="484633" cy="484632"/>
          </a:xfrm>
          <a:prstGeom prst="rect">
            <a:avLst/>
          </a:prstGeom>
          <a:solidFill>
            <a:srgbClr val="00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83664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95728" y="1272876"/>
            <a:ext cx="484633" cy="484632"/>
          </a:xfrm>
          <a:prstGeom prst="rect">
            <a:avLst/>
          </a:prstGeom>
          <a:solidFill>
            <a:srgbClr val="000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5728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07792" y="1272876"/>
            <a:ext cx="484633" cy="484632"/>
          </a:xfrm>
          <a:prstGeom prst="rect">
            <a:avLst/>
          </a:prstGeom>
          <a:solidFill>
            <a:srgbClr val="000E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07792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9856" y="1272876"/>
            <a:ext cx="484633" cy="484632"/>
          </a:xfrm>
          <a:prstGeom prst="rect">
            <a:avLst/>
          </a:prstGeom>
          <a:solidFill>
            <a:srgbClr val="001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9856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31920" y="1272876"/>
            <a:ext cx="484633" cy="484632"/>
          </a:xfrm>
          <a:prstGeom prst="rect">
            <a:avLst/>
          </a:prstGeom>
          <a:solidFill>
            <a:srgbClr val="0006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0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43984" y="1272876"/>
            <a:ext cx="484633" cy="484632"/>
          </a:xfrm>
          <a:prstGeom prst="rect">
            <a:avLst/>
          </a:prstGeom>
          <a:solidFill>
            <a:srgbClr val="00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43984" y="127287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" y="18763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71600" y="1784940"/>
            <a:ext cx="484633" cy="484632"/>
          </a:xfrm>
          <a:prstGeom prst="rect">
            <a:avLst/>
          </a:prstGeom>
          <a:solidFill>
            <a:srgbClr val="00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71600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83664" y="1784940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83664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95728" y="1784940"/>
            <a:ext cx="484633" cy="484632"/>
          </a:xfrm>
          <a:prstGeom prst="rect">
            <a:avLst/>
          </a:prstGeom>
          <a:solidFill>
            <a:srgbClr val="0042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95728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07792" y="1784940"/>
            <a:ext cx="484633" cy="484632"/>
          </a:xfrm>
          <a:prstGeom prst="rect">
            <a:avLst/>
          </a:prstGeom>
          <a:solidFill>
            <a:srgbClr val="00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907792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19856" y="1784940"/>
            <a:ext cx="484633" cy="484632"/>
          </a:xfrm>
          <a:prstGeom prst="rect">
            <a:avLst/>
          </a:prstGeom>
          <a:solidFill>
            <a:srgbClr val="003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419856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1784940"/>
            <a:ext cx="484633" cy="484632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31920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43984" y="1784940"/>
            <a:ext cx="484633" cy="484632"/>
          </a:xfrm>
          <a:prstGeom prst="rect">
            <a:avLst/>
          </a:prstGeom>
          <a:solidFill>
            <a:srgbClr val="12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3984" y="178494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-0.09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" y="23884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0" y="2297004"/>
            <a:ext cx="484633" cy="484632"/>
          </a:xfrm>
          <a:prstGeom prst="rect">
            <a:avLst/>
          </a:prstGeom>
          <a:solidFill>
            <a:srgbClr val="000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371600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83664" y="2297004"/>
            <a:ext cx="484633" cy="484632"/>
          </a:xfrm>
          <a:prstGeom prst="rect">
            <a:avLst/>
          </a:prstGeom>
          <a:solidFill>
            <a:srgbClr val="0042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883664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395728" y="2297004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95728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07792" y="2297004"/>
            <a:ext cx="484633" cy="484632"/>
          </a:xfrm>
          <a:prstGeom prst="rect">
            <a:avLst/>
          </a:prstGeom>
          <a:solidFill>
            <a:srgbClr val="004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07792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419856" y="2297004"/>
            <a:ext cx="484633" cy="484632"/>
          </a:xfrm>
          <a:prstGeom prst="rect">
            <a:avLst/>
          </a:prstGeom>
          <a:solidFill>
            <a:srgbClr val="0056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19856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931920" y="2297004"/>
            <a:ext cx="484633" cy="484632"/>
          </a:xfrm>
          <a:prstGeom prst="rect">
            <a:avLst/>
          </a:prstGeom>
          <a:solidFill>
            <a:srgbClr val="007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931920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443984" y="2297004"/>
            <a:ext cx="484633" cy="484632"/>
          </a:xfrm>
          <a:prstGeom prst="rect">
            <a:avLst/>
          </a:prstGeom>
          <a:solidFill>
            <a:srgbClr val="08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443984" y="2297004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" y="29005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371600" y="2809068"/>
            <a:ext cx="484633" cy="484632"/>
          </a:xfrm>
          <a:prstGeom prst="rect">
            <a:avLst/>
          </a:prstGeom>
          <a:solidFill>
            <a:srgbClr val="000E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371600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83664" y="2809068"/>
            <a:ext cx="484633" cy="484632"/>
          </a:xfrm>
          <a:prstGeom prst="rect">
            <a:avLst/>
          </a:prstGeom>
          <a:solidFill>
            <a:srgbClr val="003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883664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0.27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395728" y="2809068"/>
            <a:ext cx="484633" cy="484632"/>
          </a:xfrm>
          <a:prstGeom prst="rect">
            <a:avLst/>
          </a:prstGeom>
          <a:solidFill>
            <a:srgbClr val="0046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395728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907792" y="2809068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2907792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419856" y="2809068"/>
            <a:ext cx="484633" cy="484632"/>
          </a:xfrm>
          <a:prstGeom prst="rect">
            <a:avLst/>
          </a:prstGeom>
          <a:solidFill>
            <a:srgbClr val="0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419856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931920" y="2809068"/>
            <a:ext cx="484633" cy="484632"/>
          </a:xfrm>
          <a:prstGeom prst="rect">
            <a:avLst/>
          </a:prstGeom>
          <a:solidFill>
            <a:srgbClr val="00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931920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443984" y="2809068"/>
            <a:ext cx="484633" cy="484632"/>
          </a:xfrm>
          <a:prstGeom prst="rect">
            <a:avLst/>
          </a:prstGeom>
          <a:solidFill>
            <a:srgbClr val="0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443984" y="2809068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-0.06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" y="34125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71600" y="3321132"/>
            <a:ext cx="484633" cy="484632"/>
          </a:xfrm>
          <a:prstGeom prst="rect">
            <a:avLst/>
          </a:prstGeom>
          <a:solidFill>
            <a:srgbClr val="001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371600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883664" y="3321132"/>
            <a:ext cx="484633" cy="484632"/>
          </a:xfrm>
          <a:prstGeom prst="rect">
            <a:avLst/>
          </a:prstGeom>
          <a:solidFill>
            <a:srgbClr val="003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883664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395728" y="3321132"/>
            <a:ext cx="484633" cy="484632"/>
          </a:xfrm>
          <a:prstGeom prst="rect">
            <a:avLst/>
          </a:prstGeom>
          <a:solidFill>
            <a:srgbClr val="0056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395728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0.43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907792" y="3321132"/>
            <a:ext cx="484633" cy="484632"/>
          </a:xfrm>
          <a:prstGeom prst="rect">
            <a:avLst/>
          </a:prstGeom>
          <a:solidFill>
            <a:srgbClr val="0050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907792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19856" y="3321132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419856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931920" y="3321132"/>
            <a:ext cx="484633" cy="484632"/>
          </a:xfrm>
          <a:prstGeom prst="rect">
            <a:avLst/>
          </a:prstGeom>
          <a:solidFill>
            <a:srgbClr val="008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931920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443984" y="3321132"/>
            <a:ext cx="484633" cy="484632"/>
          </a:xfrm>
          <a:prstGeom prst="rect">
            <a:avLst/>
          </a:prstGeom>
          <a:solidFill>
            <a:srgbClr val="0A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443984" y="3321132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-0.05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5720" y="39246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371600" y="3833196"/>
            <a:ext cx="484633" cy="484632"/>
          </a:xfrm>
          <a:prstGeom prst="rect">
            <a:avLst/>
          </a:prstGeom>
          <a:solidFill>
            <a:srgbClr val="0006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371600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883664" y="3833196"/>
            <a:ext cx="484633" cy="484632"/>
          </a:xfrm>
          <a:prstGeom prst="rect">
            <a:avLst/>
          </a:prstGeom>
          <a:solidFill>
            <a:srgbClr val="00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883664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0.34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395728" y="3833196"/>
            <a:ext cx="484633" cy="484632"/>
          </a:xfrm>
          <a:prstGeom prst="rect">
            <a:avLst/>
          </a:prstGeom>
          <a:solidFill>
            <a:srgbClr val="0078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395728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907792" y="3833196"/>
            <a:ext cx="484633" cy="484632"/>
          </a:xfrm>
          <a:prstGeom prst="rect">
            <a:avLst/>
          </a:prstGeom>
          <a:solidFill>
            <a:srgbClr val="004C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907792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0.38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419856" y="3833196"/>
            <a:ext cx="484633" cy="484632"/>
          </a:xfrm>
          <a:prstGeom prst="rect">
            <a:avLst/>
          </a:prstGeom>
          <a:solidFill>
            <a:srgbClr val="008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3419856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931920" y="3833196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3931920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443984" y="3833196"/>
            <a:ext cx="484633" cy="484632"/>
          </a:xfrm>
          <a:prstGeom prst="rect">
            <a:avLst/>
          </a:prstGeom>
          <a:solidFill>
            <a:srgbClr val="0A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4443984" y="3833196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-0.05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5720" y="44367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371600" y="4345260"/>
            <a:ext cx="484633" cy="484632"/>
          </a:xfrm>
          <a:prstGeom prst="rect">
            <a:avLst/>
          </a:prstGeom>
          <a:solidFill>
            <a:srgbClr val="00080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371600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0.04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883664" y="4345260"/>
            <a:ext cx="484633" cy="484632"/>
          </a:xfrm>
          <a:prstGeom prst="rect">
            <a:avLst/>
          </a:prstGeom>
          <a:solidFill>
            <a:srgbClr val="12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1883664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-0.09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395728" y="4345260"/>
            <a:ext cx="484633" cy="484632"/>
          </a:xfrm>
          <a:prstGeom prst="rect">
            <a:avLst/>
          </a:prstGeom>
          <a:solidFill>
            <a:srgbClr val="08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2395728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-0.04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907792" y="4345260"/>
            <a:ext cx="484633" cy="484632"/>
          </a:xfrm>
          <a:prstGeom prst="rect">
            <a:avLst/>
          </a:prstGeom>
          <a:solidFill>
            <a:srgbClr val="0C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2907792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-0.06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419856" y="4345260"/>
            <a:ext cx="484633" cy="484632"/>
          </a:xfrm>
          <a:prstGeom prst="rect">
            <a:avLst/>
          </a:prstGeom>
          <a:solidFill>
            <a:srgbClr val="0A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3419856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-0.05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3931920" y="4345260"/>
            <a:ext cx="484633" cy="484632"/>
          </a:xfrm>
          <a:prstGeom prst="rect">
            <a:avLst/>
          </a:prstGeom>
          <a:solidFill>
            <a:srgbClr val="0A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3931920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-0.05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443984" y="4345260"/>
            <a:ext cx="484633" cy="484632"/>
          </a:xfrm>
          <a:prstGeom prst="rect">
            <a:avLst/>
          </a:prstGeom>
          <a:solidFill>
            <a:srgbClr val="334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4443984" y="4345260"/>
            <a:ext cx="48463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5212080" y="12271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5212080" y="1638636"/>
            <a:ext cx="3657600" cy="6400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5349240" y="16843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→ Revenue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5349240" y="19586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  ·  Strong positive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5212080" y="2388444"/>
            <a:ext cx="3657600" cy="6400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5349240" y="24341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 → Revenue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5349240" y="27084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0.60  ·  Strong positive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5212080" y="3138252"/>
            <a:ext cx="3657600" cy="6400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5349240" y="31839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→ Budget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5349240" y="34582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0.40  ·  Moderate positive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5212080" y="3888060"/>
            <a:ext cx="3657600" cy="6400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5349240" y="39337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→ Revenue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5349240" y="42081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0.03  ·  Negligible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6052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61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blockbuster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≥ $100M → 1, else 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 for logistic regression (blockbuster classification)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161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log_revenue / log_budget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log1p(revenue), log1p(budget)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55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 reduce skew and improve linear model fit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350008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416052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459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log_vote_count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log1p(vote_count)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right-skewed audience engagement metric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350008"/>
            <a:ext cx="4160520" cy="7315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4597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/ roi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− budget  |  revenue / budget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0540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financial metrics for deeper profitability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48456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648456"/>
            <a:ext cx="416052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7581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high_rating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vote_average ≥ 7 → 1, else 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quality indicator for model interpretability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160520" cy="1170432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48456"/>
            <a:ext cx="416052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92040" y="37581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runtime_group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0599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/ Medium / Long buckets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4352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runtime enables categorical comparisons in EDA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0D0D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REGRESSION: PREDICTING LOG REVENUE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0972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673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0972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BC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0.654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673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0972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673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R²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1005840"/>
            <a:ext cx="1920240" cy="109728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0.889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673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(Mean Absolute Error)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2240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3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COEFFICIENTS (sorted by impact)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6609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log_budget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0.54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706624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26080" y="2706624"/>
            <a:ext cx="2066544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26609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0.539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999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log_vote_count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0.47 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3044952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26080" y="3044952"/>
            <a:ext cx="1645920" cy="2011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2999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337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genre_count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0.27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26080" y="3383280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0" y="3383280"/>
            <a:ext cx="1051560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0" y="33375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675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vote_average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0.20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3721608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926080" y="3721608"/>
            <a:ext cx="654485" cy="20116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0" y="367588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0.146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0142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          : 0.01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4059936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926080" y="4059936"/>
            <a:ext cx="5938" cy="201168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40142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3525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high_rating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-0.05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4398264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451067" y="4398264"/>
            <a:ext cx="475013" cy="201168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0" y="43525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-0.080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" y="46908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spoken_lang_count</a:t>
            </a:r>
            <a:r>
              <a:rPr lang="en-US" sz="1000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-0.15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926080" y="4736592"/>
            <a:ext cx="36576" cy="201168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96688" y="4736592"/>
            <a:ext cx="629392" cy="201168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0" y="46908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-0.106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0" y="2240280"/>
            <a:ext cx="3840480" cy="2743200"/>
          </a:xfrm>
          <a:prstGeom prst="rect">
            <a:avLst/>
          </a:prstGeom>
          <a:solidFill>
            <a:srgbClr val="131B3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029200" y="2240280"/>
            <a:ext cx="384048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166360" y="23591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27166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vote count are near-equal strongest predictors (0.54 and 0.47) — scale and visibility both matter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315945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count adds meaningful signal (0.27) — multi-genre films may reach broader audiences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66360" y="360225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average positive (0.20) — quality matters independently of whether film is 'high rated'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66360" y="405933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rating coefficient is slightly negative (-0.05) — likely collinear with vote_average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REGRESSION: BLOCKBUSTER CLASSIFIER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09728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202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88.7%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classifier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20240" cy="109728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19202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2316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blockbusters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1920240" cy="109728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19202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blockbusters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005840"/>
            <a:ext cx="1920240" cy="1097280"/>
          </a:xfrm>
          <a:prstGeom prst="rect">
            <a:avLst/>
          </a:prstGeom>
          <a:solidFill>
            <a:srgbClr val="1A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0840" y="1005840"/>
            <a:ext cx="1920240" cy="64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2084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19202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IMPACT (on blockbuster probability)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277063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log_budget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2807208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377440" y="2807208"/>
            <a:ext cx="2560320" cy="1645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7706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1.850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06324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vote_average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3099816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77440" y="3099816"/>
            <a:ext cx="956314" cy="16459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306324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0.691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35584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77440" y="3392424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377440" y="3392424"/>
            <a:ext cx="87189" cy="16459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335584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364845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genre_count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3685032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316546" y="3685032"/>
            <a:ext cx="60894" cy="16459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364845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-0.044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394106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high_rating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77440" y="3977640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263956" y="3977640"/>
            <a:ext cx="113484" cy="16459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0" y="3941064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-0.082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23367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prod_co_count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377440" y="4270248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215517" y="4270248"/>
            <a:ext cx="161923" cy="16459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0" y="423367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-0.117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526280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spoken_lang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377440" y="4562856"/>
            <a:ext cx="36576" cy="164592"/>
          </a:xfrm>
          <a:prstGeom prst="rect">
            <a:avLst/>
          </a:prstGeom>
          <a:solidFill>
            <a:srgbClr val="1E2B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039755" y="4562856"/>
            <a:ext cx="337685" cy="16459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29200" y="452628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-0.244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2331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029200" y="2743200"/>
            <a:ext cx="1261872" cy="548640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29200" y="274320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2743200"/>
            <a:ext cx="1261872" cy="548640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09360" y="274320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89520" y="2743200"/>
            <a:ext cx="1261872" cy="548640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89520" y="274320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Yes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3337560"/>
            <a:ext cx="1261872" cy="548640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0" y="33375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No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09360" y="3337560"/>
            <a:ext cx="1261872" cy="5486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309360" y="33375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(TN)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589520" y="3337560"/>
            <a:ext cx="1261872" cy="548640"/>
          </a:xfrm>
          <a:prstGeom prst="rect">
            <a:avLst/>
          </a:prstGeom>
          <a:solidFill>
            <a:srgbClr val="3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589520" y="333756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(FP)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5029200" y="3931920"/>
            <a:ext cx="1261872" cy="548640"/>
          </a:xfrm>
          <a:prstGeom prst="rect">
            <a:avLst/>
          </a:prstGeom>
          <a:solidFill>
            <a:srgbClr val="1A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029200" y="393192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Yes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309360" y="3931920"/>
            <a:ext cx="1261872" cy="548640"/>
          </a:xfrm>
          <a:prstGeom prst="rect">
            <a:avLst/>
          </a:prstGeom>
          <a:solidFill>
            <a:srgbClr val="3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309360" y="393192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(FN)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589520" y="3931920"/>
            <a:ext cx="1261872" cy="548640"/>
          </a:xfrm>
          <a:prstGeom prst="rect">
            <a:avLst/>
          </a:prstGeom>
          <a:solidFill>
            <a:srgbClr val="1A3A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589520" y="3931920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(TP)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classifier yet — 88.7% accuracy, F1=0.905 on 71-observation test set. Only 8 errors total (4 FP + 4 FN).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B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83464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11795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the top predictor in both models — r=0.71 with revenue, logistic coef of 1.91. Production scale is the single most actionable lever for commercial success.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83464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67328" y="11795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&amp; Action Lead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averages $471M (70% blockbuster rate) and Action $445M (65%). Documentary has the most films but near-zero avg revenue.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05156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1051560"/>
            <a:ext cx="283464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1612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11696" y="11795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 = Visibility Signal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6459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count (r=0.60) is nearly as predictive as budget. It proxies audience awareness — movies people know about earn more.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2971800"/>
            <a:ext cx="2834640" cy="73152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081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22960" y="30998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Films Earn More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films (&gt;120 min) average $466M vs $107M for short. Runtime also correlates with budget (r=0.40), reflecting larger productions.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72968" y="297180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72968" y="2971800"/>
            <a:ext cx="2834640" cy="73152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0128" y="3081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67328" y="30998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Perform Well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Linear: Test R²=0.69, no overfitting (train &lt; test). Logistic: 85.9% accuracy, F1=0.878. Larger dataset (353 rows) was key to reliable results.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17336" y="2971800"/>
            <a:ext cx="2834640" cy="1737360"/>
          </a:xfrm>
          <a:prstGeom prst="rect">
            <a:avLst/>
          </a:prstGeom>
          <a:solidFill>
            <a:srgbClr val="0D0D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17336" y="2971800"/>
            <a:ext cx="2834640" cy="73152"/>
          </a:xfrm>
          <a:prstGeom prst="rect">
            <a:avLst/>
          </a:prstGeom>
          <a:solidFill>
            <a:srgbClr val="A0A8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54496" y="3081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11696" y="309981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54496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missing for 79% of 1,980 movies, leaving 353 model rows. 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TMDB API  ·  1,980 movies  ·  Methods: Linear &amp; Logistic Regression  ·  Audience: Movie Producers &amp; Investors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1171</Words>
  <Application>Microsoft Macintosh PowerPoint</Application>
  <PresentationFormat>On-screen Show (16:9)</PresentationFormat>
  <Paragraphs>304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Drives Movie Success? TMDB Data Analysis</dc:title>
  <dc:subject>PptxGenJS Presentation</dc:subject>
  <dc:creator>PptxGenJS</dc:creator>
  <cp:lastModifiedBy>Alex Choi</cp:lastModifiedBy>
  <cp:revision>11</cp:revision>
  <dcterms:created xsi:type="dcterms:W3CDTF">2026-03-08T23:33:42Z</dcterms:created>
  <dcterms:modified xsi:type="dcterms:W3CDTF">2026-03-09T01:46:30Z</dcterms:modified>
</cp:coreProperties>
</file>